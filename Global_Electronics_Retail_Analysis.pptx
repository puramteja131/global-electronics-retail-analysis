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56" r:id="rId2"/>
    <p:sldId id="272" r:id="rId3"/>
    <p:sldId id="286" r:id="rId4"/>
    <p:sldId id="281" r:id="rId5"/>
    <p:sldId id="262" r:id="rId6"/>
    <p:sldId id="273" r:id="rId7"/>
    <p:sldId id="274" r:id="rId8"/>
    <p:sldId id="287" r:id="rId9"/>
    <p:sldId id="275" r:id="rId10"/>
    <p:sldId id="284" r:id="rId11"/>
    <p:sldId id="289" r:id="rId12"/>
    <p:sldId id="290" r:id="rId13"/>
    <p:sldId id="291" r:id="rId14"/>
    <p:sldId id="288" r:id="rId15"/>
    <p:sldId id="285" r:id="rId16"/>
    <p:sldId id="283" r:id="rId17"/>
    <p:sldId id="259" r:id="rId18"/>
  </p:sldIdLst>
  <p:sldSz cx="12192000" cy="6858000"/>
  <p:notesSz cx="6858000" cy="9144000"/>
  <p:embeddedFontLst>
    <p:embeddedFont>
      <p:font typeface="Georgia" panose="02040502050405020303" pitchFamily="18" charset="0"/>
      <p:regular r:id="rId20"/>
      <p:bold r:id="rId21"/>
      <p:italic r:id="rId22"/>
      <p:boldItalic r:id="rId23"/>
    </p:embeddedFont>
    <p:embeddedFont>
      <p:font typeface="Lato Black" panose="020F0502020204030203" pitchFamily="34" charset="0"/>
      <p:bold r:id="rId24"/>
    </p:embeddedFont>
    <p:embeddedFont>
      <p:font typeface="Libre Baskerville" panose="02000000000000000000" pitchFamily="2" charset="0"/>
      <p:regular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9"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21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varScale="1">
        <p:scale>
          <a:sx n="88" d="100"/>
          <a:sy n="88" d="100"/>
        </p:scale>
        <p:origin x="485" y="8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8" r:id="rId6"/>
    <p:sldLayoutId id="2147483659"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puramteja131" TargetMode="External"/><Relationship Id="rId2" Type="http://schemas.openxmlformats.org/officeDocument/2006/relationships/hyperlink" Target="https://www.linkedin.com/in/puramteja" TargetMode="Externa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85" y="9427"/>
            <a:ext cx="12190815" cy="7060676"/>
          </a:xfrm>
          <a:prstGeom prst="rect">
            <a:avLst/>
          </a:prstGeom>
          <a:noFill/>
          <a:ln>
            <a:noFill/>
          </a:ln>
        </p:spPr>
      </p:pic>
      <p:sp>
        <p:nvSpPr>
          <p:cNvPr id="99" name="Google Shape;99;p1"/>
          <p:cNvSpPr txBox="1"/>
          <p:nvPr/>
        </p:nvSpPr>
        <p:spPr>
          <a:xfrm>
            <a:off x="3395221" y="3688645"/>
            <a:ext cx="5401558" cy="1046400"/>
          </a:xfrm>
          <a:prstGeom prst="rect">
            <a:avLst/>
          </a:prstGeom>
          <a:noFill/>
          <a:ln>
            <a:noFill/>
          </a:ln>
        </p:spPr>
        <p:txBody>
          <a:bodyPr spcFirstLastPara="1" wrap="square" lIns="91425" tIns="45700" rIns="91425" bIns="45700" anchor="t" anchorCtr="0">
            <a:spAutoFit/>
          </a:bodyPr>
          <a:lstStyle/>
          <a:p>
            <a:pPr algn="ctr">
              <a:buSzPts val="1800"/>
            </a:pPr>
            <a:r>
              <a:rPr lang="en-IN" sz="2400" b="1" dirty="0"/>
              <a:t>Global Electronics Retail Analysis</a:t>
            </a:r>
          </a:p>
          <a:p>
            <a:pPr algn="ctr">
              <a:buSzPts val="1800"/>
            </a:pPr>
            <a:r>
              <a:rPr lang="en-IN" sz="1800" dirty="0">
                <a:solidFill>
                  <a:srgbClr val="191919"/>
                </a:solidFill>
              </a:rPr>
              <a:t>Power BI Dashboard</a:t>
            </a:r>
          </a:p>
          <a:p>
            <a:pPr marL="0" marR="0" lvl="0" indent="0" algn="ctr" rtl="0">
              <a:lnSpc>
                <a:spcPct val="100000"/>
              </a:lnSpc>
              <a:spcBef>
                <a:spcPts val="0"/>
              </a:spcBef>
              <a:spcAft>
                <a:spcPts val="0"/>
              </a:spcAft>
              <a:buClr>
                <a:srgbClr val="000000"/>
              </a:buClr>
              <a:buSzPts val="1800"/>
              <a:buFont typeface="Arial"/>
              <a:buNone/>
            </a:pPr>
            <a:endParaRPr lang="en-IN" sz="1800" dirty="0">
              <a:solidFill>
                <a:schemeClr val="dk1"/>
              </a:solidFill>
              <a:latin typeface="Calibri"/>
              <a:ea typeface="Calibri"/>
              <a:cs typeface="Calibri"/>
              <a:sym typeface="Calibri"/>
            </a:endParaRPr>
          </a:p>
        </p:txBody>
      </p:sp>
      <p:sp>
        <p:nvSpPr>
          <p:cNvPr id="5" name="Rectangle 4">
            <a:extLst>
              <a:ext uri="{FF2B5EF4-FFF2-40B4-BE49-F238E27FC236}">
                <a16:creationId xmlns:a16="http://schemas.microsoft.com/office/drawing/2014/main" id="{3C010588-4B5E-0B29-F640-E853F159DBFB}"/>
              </a:ext>
            </a:extLst>
          </p:cNvPr>
          <p:cNvSpPr/>
          <p:nvPr/>
        </p:nvSpPr>
        <p:spPr>
          <a:xfrm>
            <a:off x="8107051" y="4864230"/>
            <a:ext cx="3167407" cy="15648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SzPts val="1800"/>
            </a:pPr>
            <a:r>
              <a:rPr lang="en-IN" sz="1800" b="1" dirty="0">
                <a:solidFill>
                  <a:schemeClr val="dk1"/>
                </a:solidFill>
                <a:latin typeface="Times New Roman" panose="02020603050405020304" pitchFamily="18" charset="0"/>
                <a:ea typeface="Calibri"/>
                <a:cs typeface="Times New Roman" panose="02020603050405020304" pitchFamily="18" charset="0"/>
              </a:rPr>
              <a:t>Puram Teja  </a:t>
            </a:r>
          </a:p>
          <a:p>
            <a:pPr algn="ctr">
              <a:buSzPts val="1800"/>
            </a:pPr>
            <a:r>
              <a:rPr lang="en-IN" sz="1800" b="1" dirty="0">
                <a:solidFill>
                  <a:schemeClr val="dk1"/>
                </a:solidFill>
                <a:latin typeface="Times New Roman" panose="02020603050405020304" pitchFamily="18" charset="0"/>
                <a:ea typeface="Calibri"/>
                <a:cs typeface="Times New Roman" panose="02020603050405020304" pitchFamily="18" charset="0"/>
              </a:rPr>
              <a:t>   Batch No :436</a:t>
            </a:r>
          </a:p>
          <a:p>
            <a:pPr algn="ctr">
              <a:buSzPts val="1800"/>
            </a:pPr>
            <a:r>
              <a:rPr lang="en-IN" sz="1800" b="1" dirty="0">
                <a:solidFill>
                  <a:schemeClr val="dk1"/>
                </a:solidFill>
                <a:latin typeface="Times New Roman" panose="02020603050405020304" pitchFamily="18" charset="0"/>
                <a:ea typeface="Calibri"/>
                <a:cs typeface="Times New Roman" panose="02020603050405020304" pitchFamily="18" charset="0"/>
              </a:rPr>
              <a:t>               Innomatics Research</a:t>
            </a:r>
          </a:p>
          <a:p>
            <a:pPr algn="ctr">
              <a:buSzPts val="1800"/>
            </a:pPr>
            <a:r>
              <a:rPr lang="en-IN" sz="1800" b="1" dirty="0">
                <a:solidFill>
                  <a:schemeClr val="dk1"/>
                </a:solidFill>
                <a:latin typeface="Times New Roman" panose="02020603050405020304" pitchFamily="18" charset="0"/>
                <a:ea typeface="Calibri"/>
                <a:cs typeface="Times New Roman" panose="02020603050405020304" pitchFamily="18" charset="0"/>
              </a:rPr>
              <a:t>            Labs Dilshuknagar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1D26D-9A0D-1E88-9A25-F325A972DCF6}"/>
              </a:ext>
            </a:extLst>
          </p:cNvPr>
          <p:cNvSpPr>
            <a:spLocks noGrp="1"/>
          </p:cNvSpPr>
          <p:nvPr>
            <p:ph type="title"/>
          </p:nvPr>
        </p:nvSpPr>
        <p:spPr>
          <a:xfrm>
            <a:off x="838200" y="365126"/>
            <a:ext cx="10515600" cy="1048896"/>
          </a:xfrm>
        </p:spPr>
        <p:txBody>
          <a:bodyPr>
            <a:normAutofit/>
          </a:bodyPr>
          <a:lstStyle/>
          <a:p>
            <a:pPr>
              <a:lnSpc>
                <a:spcPct val="80000"/>
              </a:lnSpc>
              <a:buClr>
                <a:srgbClr val="FF0000"/>
              </a:buClr>
              <a:buSzPts val="3200"/>
              <a:buFont typeface="Arial"/>
            </a:pPr>
            <a:r>
              <a:rPr lang="en-IN" sz="3200" dirty="0">
                <a:solidFill>
                  <a:srgbClr val="FF0000"/>
                </a:solidFill>
                <a:latin typeface="Lato Black"/>
                <a:ea typeface="Lato Black"/>
                <a:cs typeface="Lato Black"/>
                <a:sym typeface="Arial"/>
              </a:rPr>
              <a:t>About me</a:t>
            </a:r>
          </a:p>
        </p:txBody>
      </p:sp>
      <p:sp>
        <p:nvSpPr>
          <p:cNvPr id="3" name="Text Placeholder 2">
            <a:extLst>
              <a:ext uri="{FF2B5EF4-FFF2-40B4-BE49-F238E27FC236}">
                <a16:creationId xmlns:a16="http://schemas.microsoft.com/office/drawing/2014/main" id="{B411EFCE-000B-1866-51F4-B884E1FB9101}"/>
              </a:ext>
            </a:extLst>
          </p:cNvPr>
          <p:cNvSpPr>
            <a:spLocks noGrp="1"/>
          </p:cNvSpPr>
          <p:nvPr>
            <p:ph type="body" idx="1"/>
          </p:nvPr>
        </p:nvSpPr>
        <p:spPr>
          <a:xfrm>
            <a:off x="838200" y="1508290"/>
            <a:ext cx="10515600" cy="4668674"/>
          </a:xfrm>
        </p:spPr>
        <p:txBody>
          <a:bodyPr/>
          <a:lstStyle/>
          <a:p>
            <a:pPr marL="114300" indent="0">
              <a:buNone/>
            </a:pPr>
            <a:r>
              <a:rPr lang="en-IN" sz="2000" dirty="0">
                <a:latin typeface="Times New Roman" panose="02020603050405020304" pitchFamily="18" charset="0"/>
                <a:cs typeface="Times New Roman" panose="02020603050405020304" pitchFamily="18" charset="0"/>
              </a:rPr>
              <a:t>I am </a:t>
            </a:r>
            <a:r>
              <a:rPr lang="en-IN" sz="2000" b="1" dirty="0"/>
              <a:t>Puram Teja</a:t>
            </a:r>
            <a:r>
              <a:rPr lang="en-IN" sz="2000" b="1" dirty="0">
                <a:latin typeface="Times New Roman" panose="02020603050405020304" pitchFamily="18" charset="0"/>
                <a:cs typeface="Times New Roman" panose="02020603050405020304" pitchFamily="18" charset="0"/>
              </a:rPr>
              <a:t>.</a:t>
            </a:r>
          </a:p>
          <a:p>
            <a:pPr marL="114300" indent="0">
              <a:buNone/>
            </a:pPr>
            <a:endParaRPr lang="en-IN" sz="2000" dirty="0">
              <a:latin typeface="Times New Roman" panose="02020603050405020304" pitchFamily="18" charset="0"/>
              <a:cs typeface="Times New Roman" panose="02020603050405020304" pitchFamily="18" charset="0"/>
            </a:endParaRPr>
          </a:p>
          <a:p>
            <a:pPr marL="114300" indent="0">
              <a:buNone/>
            </a:pPr>
            <a:r>
              <a:rPr lang="en-IN" sz="2000" dirty="0"/>
              <a:t>I completed my B.Tech in Computer Science and Engineering (Data Science) from Kommuri Pratap Reddy Institute of Technology, Hyderabad.</a:t>
            </a:r>
            <a:endParaRPr lang="en-IN" sz="2000" dirty="0">
              <a:latin typeface="Times New Roman" panose="02020603050405020304" pitchFamily="18" charset="0"/>
              <a:cs typeface="Times New Roman" panose="02020603050405020304" pitchFamily="18" charset="0"/>
            </a:endParaRPr>
          </a:p>
          <a:p>
            <a:pPr marL="114300" indent="0">
              <a:buNone/>
            </a:pPr>
            <a:r>
              <a:rPr lang="en-IN" sz="2000" dirty="0">
                <a:latin typeface="Times New Roman" panose="02020603050405020304" pitchFamily="18" charset="0"/>
                <a:cs typeface="Times New Roman" panose="02020603050405020304" pitchFamily="18" charset="0"/>
              </a:rPr>
              <a:t>LinkedIn</a:t>
            </a:r>
            <a:r>
              <a:rPr lang="en-IN" sz="240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a:t>
            </a:r>
            <a:r>
              <a:rPr lang="en-IN" sz="2000" dirty="0">
                <a:hlinkClick r:id="rId2"/>
              </a:rPr>
              <a:t>https://www.linkedin.com/in/puramteja</a:t>
            </a:r>
            <a:endParaRPr lang="en-IN" sz="2000" dirty="0">
              <a:latin typeface="Times New Roman" panose="02020603050405020304" pitchFamily="18" charset="0"/>
              <a:cs typeface="Times New Roman" panose="02020603050405020304" pitchFamily="18" charset="0"/>
            </a:endParaRPr>
          </a:p>
          <a:p>
            <a:pPr marL="114300" indent="0">
              <a:buNone/>
            </a:pPr>
            <a:endParaRPr lang="en-IN" sz="2400" dirty="0">
              <a:latin typeface="Times New Roman" panose="02020603050405020304" pitchFamily="18" charset="0"/>
              <a:cs typeface="Times New Roman" panose="02020603050405020304" pitchFamily="18" charset="0"/>
            </a:endParaRPr>
          </a:p>
          <a:p>
            <a:pPr marL="114300" indent="0">
              <a:buNone/>
            </a:pPr>
            <a:r>
              <a:rPr lang="en-IN" sz="2000" dirty="0">
                <a:latin typeface="Times New Roman" panose="02020603050405020304" pitchFamily="18" charset="0"/>
                <a:cs typeface="Times New Roman" panose="02020603050405020304" pitchFamily="18" charset="0"/>
              </a:rPr>
              <a:t>GitHub :</a:t>
            </a:r>
            <a:r>
              <a:rPr lang="en-IN" sz="2000" dirty="0">
                <a:hlinkClick r:id="rId3"/>
              </a:rPr>
              <a:t>https://github.com/puramteja131</a:t>
            </a:r>
            <a:endParaRPr lang="en-IN" sz="2000" dirty="0">
              <a:latin typeface="Times New Roman" panose="02020603050405020304" pitchFamily="18" charset="0"/>
              <a:cs typeface="Times New Roman" panose="02020603050405020304" pitchFamily="18" charset="0"/>
            </a:endParaRPr>
          </a:p>
          <a:p>
            <a:pPr marL="114300" indent="0">
              <a:buNone/>
            </a:pPr>
            <a:endParaRPr lang="en-IN" sz="2400" dirty="0">
              <a:latin typeface="Times New Roman" panose="02020603050405020304" pitchFamily="18" charset="0"/>
              <a:cs typeface="Times New Roman" panose="02020603050405020304" pitchFamily="18" charset="0"/>
            </a:endParaRPr>
          </a:p>
          <a:p>
            <a:pPr marL="11430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00908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6CDE4-402E-FC2B-EAFD-CA18F47D6F76}"/>
              </a:ext>
            </a:extLst>
          </p:cNvPr>
          <p:cNvSpPr>
            <a:spLocks noGrp="1"/>
          </p:cNvSpPr>
          <p:nvPr>
            <p:ph type="title"/>
          </p:nvPr>
        </p:nvSpPr>
        <p:spPr/>
        <p:txBody>
          <a:bodyPr/>
          <a:lstStyle/>
          <a:p>
            <a:r>
              <a:rPr lang="en-IN" sz="3200" dirty="0">
                <a:latin typeface="Times New Roman" panose="02020603050405020304" pitchFamily="18" charset="0"/>
                <a:cs typeface="Times New Roman" panose="02020603050405020304" pitchFamily="18" charset="0"/>
              </a:rPr>
              <a:t>AGENDA :</a:t>
            </a:r>
          </a:p>
        </p:txBody>
      </p:sp>
      <p:sp>
        <p:nvSpPr>
          <p:cNvPr id="3" name="Text Placeholder 2">
            <a:extLst>
              <a:ext uri="{FF2B5EF4-FFF2-40B4-BE49-F238E27FC236}">
                <a16:creationId xmlns:a16="http://schemas.microsoft.com/office/drawing/2014/main" id="{AC5D1BEC-7190-FECC-9D87-502FB20856E0}"/>
              </a:ext>
            </a:extLst>
          </p:cNvPr>
          <p:cNvSpPr>
            <a:spLocks noGrp="1"/>
          </p:cNvSpPr>
          <p:nvPr>
            <p:ph type="body" idx="1"/>
          </p:nvPr>
        </p:nvSpPr>
        <p:spPr/>
        <p:txBody>
          <a:bodyPr/>
          <a:lstStyle/>
          <a:p>
            <a:r>
              <a:rPr lang="en-IN" sz="2100" dirty="0">
                <a:latin typeface="Times New Roman" panose="02020603050405020304" pitchFamily="18" charset="0"/>
                <a:cs typeface="Times New Roman" panose="02020603050405020304" pitchFamily="18" charset="0"/>
              </a:rPr>
              <a:t>Business Problem </a:t>
            </a:r>
          </a:p>
          <a:p>
            <a:r>
              <a:rPr lang="en-IN" sz="2100" dirty="0">
                <a:latin typeface="Times New Roman" panose="02020603050405020304" pitchFamily="18" charset="0"/>
                <a:cs typeface="Times New Roman" panose="02020603050405020304" pitchFamily="18" charset="0"/>
              </a:rPr>
              <a:t>Business Objective</a:t>
            </a:r>
          </a:p>
          <a:p>
            <a:r>
              <a:rPr lang="en-IN" sz="2100" dirty="0">
                <a:latin typeface="Times New Roman" panose="02020603050405020304" pitchFamily="18" charset="0"/>
                <a:cs typeface="Times New Roman" panose="02020603050405020304" pitchFamily="18" charset="0"/>
              </a:rPr>
              <a:t>Dataset Overview</a:t>
            </a:r>
          </a:p>
          <a:p>
            <a:r>
              <a:rPr lang="en-IN" sz="2100" dirty="0">
                <a:latin typeface="Times New Roman" panose="02020603050405020304" pitchFamily="18" charset="0"/>
                <a:cs typeface="Times New Roman" panose="02020603050405020304" pitchFamily="18" charset="0"/>
              </a:rPr>
              <a:t>Data Cleaning &amp; Transformation </a:t>
            </a:r>
          </a:p>
          <a:p>
            <a:r>
              <a:rPr lang="en-IN" sz="2100" dirty="0">
                <a:latin typeface="Times New Roman" panose="02020603050405020304" pitchFamily="18" charset="0"/>
                <a:cs typeface="Times New Roman" panose="02020603050405020304" pitchFamily="18" charset="0"/>
              </a:rPr>
              <a:t>Data Modeling</a:t>
            </a:r>
          </a:p>
          <a:p>
            <a:r>
              <a:rPr lang="en-IN" sz="2100" dirty="0">
                <a:latin typeface="Times New Roman" panose="02020603050405020304" pitchFamily="18" charset="0"/>
                <a:cs typeface="Times New Roman" panose="02020603050405020304" pitchFamily="18" charset="0"/>
              </a:rPr>
              <a:t>DAX Measures Created </a:t>
            </a:r>
          </a:p>
          <a:p>
            <a:r>
              <a:rPr lang="en-IN" sz="2100" dirty="0">
                <a:latin typeface="Times New Roman" panose="02020603050405020304" pitchFamily="18" charset="0"/>
                <a:cs typeface="Times New Roman" panose="02020603050405020304" pitchFamily="18" charset="0"/>
              </a:rPr>
              <a:t>Dashboard Highlights</a:t>
            </a:r>
          </a:p>
          <a:p>
            <a:r>
              <a:rPr lang="en-IN" sz="2100" dirty="0">
                <a:latin typeface="Times New Roman" panose="02020603050405020304" pitchFamily="18" charset="0"/>
                <a:cs typeface="Times New Roman" panose="02020603050405020304" pitchFamily="18" charset="0"/>
              </a:rPr>
              <a:t>Key Insights</a:t>
            </a:r>
          </a:p>
          <a:p>
            <a:r>
              <a:rPr lang="en-IN" sz="2100" dirty="0">
                <a:latin typeface="Times New Roman" panose="02020603050405020304" pitchFamily="18" charset="0"/>
                <a:cs typeface="Times New Roman" panose="02020603050405020304" pitchFamily="18" charset="0"/>
              </a:rPr>
              <a:t>Challenges Faced</a:t>
            </a:r>
          </a:p>
          <a:p>
            <a:r>
              <a:rPr lang="en-IN" sz="2100" dirty="0">
                <a:latin typeface="Times New Roman" panose="02020603050405020304" pitchFamily="18" charset="0"/>
                <a:cs typeface="Times New Roman" panose="02020603050405020304" pitchFamily="18" charset="0"/>
              </a:rPr>
              <a:t>Conclusion</a:t>
            </a:r>
          </a:p>
          <a:p>
            <a:endParaRPr lang="en-IN" b="1"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109162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5FEC1-7C42-2295-FEA7-653E5AD7CAAD}"/>
              </a:ext>
            </a:extLst>
          </p:cNvPr>
          <p:cNvSpPr>
            <a:spLocks noGrp="1"/>
          </p:cNvSpPr>
          <p:nvPr>
            <p:ph type="title"/>
          </p:nvPr>
        </p:nvSpPr>
        <p:spPr>
          <a:xfrm>
            <a:off x="791852" y="365125"/>
            <a:ext cx="10561948" cy="1086603"/>
          </a:xfrm>
        </p:spPr>
        <p:txBody>
          <a:bodyPr>
            <a:normAutofit/>
          </a:bodyPr>
          <a:lstStyle/>
          <a:p>
            <a:r>
              <a:rPr lang="en-IN" sz="3200" dirty="0">
                <a:latin typeface="Times New Roman" panose="02020603050405020304" pitchFamily="18" charset="0"/>
                <a:cs typeface="Times New Roman" panose="02020603050405020304" pitchFamily="18" charset="0"/>
              </a:rPr>
              <a:t>Business Problem :</a:t>
            </a:r>
          </a:p>
        </p:txBody>
      </p:sp>
      <p:sp>
        <p:nvSpPr>
          <p:cNvPr id="3" name="Text Placeholder 2">
            <a:extLst>
              <a:ext uri="{FF2B5EF4-FFF2-40B4-BE49-F238E27FC236}">
                <a16:creationId xmlns:a16="http://schemas.microsoft.com/office/drawing/2014/main" id="{F550160C-13FD-A4A4-5A2B-25DDC418FF86}"/>
              </a:ext>
            </a:extLst>
          </p:cNvPr>
          <p:cNvSpPr>
            <a:spLocks noGrp="1"/>
          </p:cNvSpPr>
          <p:nvPr>
            <p:ph type="body" idx="1"/>
          </p:nvPr>
        </p:nvSpPr>
        <p:spPr>
          <a:xfrm>
            <a:off x="537328" y="1583703"/>
            <a:ext cx="10816472" cy="4593260"/>
          </a:xfrm>
        </p:spPr>
        <p:txBody>
          <a:bodyPr>
            <a:normAutofit/>
          </a:bodyPr>
          <a:lstStyle/>
          <a:p>
            <a:pPr marL="114300" indent="0">
              <a:buNone/>
            </a:pPr>
            <a:r>
              <a:rPr lang="en-US" sz="2100" dirty="0">
                <a:solidFill>
                  <a:srgbClr val="191919"/>
                </a:solidFill>
                <a:latin typeface="Georgia"/>
              </a:rPr>
              <a:t>A global electronics retailer wants to understand why its overall revenue growth is slowing down. The business needs to identify where the slowdown is happening and whether it is related to order volume, order value, country performance, product categories, or outside factors such as the 2020 pandemic period.</a:t>
            </a:r>
          </a:p>
          <a:p>
            <a:pPr marL="114300" indent="0">
              <a:buNone/>
            </a:pPr>
            <a:endParaRPr lang="en-US" sz="2000" dirty="0">
              <a:solidFill>
                <a:srgbClr val="191919"/>
              </a:solidFill>
              <a:latin typeface="Georgia"/>
            </a:endParaRPr>
          </a:p>
          <a:p>
            <a:pPr marL="114300" indent="0">
              <a:buNone/>
            </a:pPr>
            <a:r>
              <a:rPr lang="en-IN" sz="2000" b="1" dirty="0">
                <a:solidFill>
                  <a:srgbClr val="191919"/>
                </a:solidFill>
                <a:latin typeface="Georgia"/>
              </a:rPr>
              <a:t>Key questions:</a:t>
            </a:r>
          </a:p>
          <a:p>
            <a:pPr>
              <a:spcAft>
                <a:spcPts val="1000"/>
              </a:spcAft>
              <a:defRPr sz="1700">
                <a:solidFill>
                  <a:srgbClr val="191919"/>
                </a:solidFill>
                <a:latin typeface="Georgia"/>
              </a:defRPr>
            </a:pPr>
            <a:r>
              <a:rPr lang="en-US" sz="2100" dirty="0"/>
              <a:t>How is revenue changing across years?</a:t>
            </a:r>
          </a:p>
          <a:p>
            <a:pPr>
              <a:spcAft>
                <a:spcPts val="1000"/>
              </a:spcAft>
              <a:defRPr sz="1700">
                <a:solidFill>
                  <a:srgbClr val="191919"/>
                </a:solidFill>
                <a:latin typeface="Georgia"/>
              </a:defRPr>
            </a:pPr>
            <a:r>
              <a:rPr lang="en-US" sz="2100" dirty="0"/>
              <a:t>Which countries are performing better or worse?</a:t>
            </a:r>
          </a:p>
          <a:p>
            <a:pPr>
              <a:spcAft>
                <a:spcPts val="1000"/>
              </a:spcAft>
              <a:defRPr sz="1700">
                <a:solidFill>
                  <a:srgbClr val="191919"/>
                </a:solidFill>
                <a:latin typeface="Georgia"/>
              </a:defRPr>
            </a:pPr>
            <a:r>
              <a:rPr lang="en-IN" sz="2100" dirty="0">
                <a:solidFill>
                  <a:srgbClr val="191919"/>
                </a:solidFill>
                <a:latin typeface="Georgia"/>
              </a:rPr>
              <a:t>Which product categories are increasing or decreasing revenue?</a:t>
            </a:r>
            <a:endParaRPr lang="en-US" sz="2100" dirty="0"/>
          </a:p>
          <a:p>
            <a:pPr>
              <a:spcAft>
                <a:spcPts val="1000"/>
              </a:spcAft>
              <a:defRPr sz="1700">
                <a:solidFill>
                  <a:srgbClr val="191919"/>
                </a:solidFill>
                <a:latin typeface="Georgia"/>
              </a:defRPr>
            </a:pPr>
            <a:r>
              <a:rPr lang="en-US" sz="2100" dirty="0"/>
              <a:t>What happened to revenue during 2020?</a:t>
            </a:r>
          </a:p>
          <a:p>
            <a:pPr marL="114300" indent="0">
              <a:buNone/>
            </a:pPr>
            <a:endParaRPr lang="en-IN" sz="2000" b="1" dirty="0">
              <a:solidFill>
                <a:srgbClr val="191919"/>
              </a:solidFill>
              <a:latin typeface="Georgia"/>
            </a:endParaRPr>
          </a:p>
          <a:p>
            <a:endParaRPr lang="en-IN" dirty="0"/>
          </a:p>
        </p:txBody>
      </p:sp>
    </p:spTree>
    <p:extLst>
      <p:ext uri="{BB962C8B-B14F-4D97-AF65-F5344CB8AC3E}">
        <p14:creationId xmlns:p14="http://schemas.microsoft.com/office/powerpoint/2010/main" val="1039676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9DBEA-AE18-5342-296C-2B9E87F9C8E5}"/>
              </a:ext>
            </a:extLst>
          </p:cNvPr>
          <p:cNvSpPr>
            <a:spLocks noGrp="1"/>
          </p:cNvSpPr>
          <p:nvPr>
            <p:ph type="title"/>
          </p:nvPr>
        </p:nvSpPr>
        <p:spPr>
          <a:xfrm>
            <a:off x="838986" y="395925"/>
            <a:ext cx="10514814" cy="1121789"/>
          </a:xfrm>
        </p:spPr>
        <p:txBody>
          <a:bodyPr>
            <a:normAutofit/>
          </a:bodyPr>
          <a:lstStyle/>
          <a:p>
            <a:r>
              <a:rPr lang="en-IN" sz="3200" dirty="0">
                <a:latin typeface="Times New Roman" panose="02020603050405020304" pitchFamily="18" charset="0"/>
                <a:cs typeface="Times New Roman" panose="02020603050405020304" pitchFamily="18" charset="0"/>
              </a:rPr>
              <a:t>Business</a:t>
            </a:r>
            <a:r>
              <a:rPr lang="en-IN" sz="3200" dirty="0"/>
              <a:t> </a:t>
            </a:r>
            <a:r>
              <a:rPr lang="en-IN" sz="3200" dirty="0">
                <a:latin typeface="Times New Roman" panose="02020603050405020304" pitchFamily="18" charset="0"/>
                <a:cs typeface="Times New Roman" panose="02020603050405020304" pitchFamily="18" charset="0"/>
              </a:rPr>
              <a:t>Objective</a:t>
            </a:r>
            <a:r>
              <a:rPr lang="en-IN" sz="3200" dirty="0"/>
              <a:t> </a:t>
            </a:r>
            <a:r>
              <a:rPr lang="en-IN" sz="3200" dirty="0">
                <a:latin typeface="Times New Roman" panose="02020603050405020304" pitchFamily="18" charset="0"/>
                <a:cs typeface="Times New Roman" panose="02020603050405020304" pitchFamily="18" charset="0"/>
              </a:rPr>
              <a:t>:</a:t>
            </a:r>
          </a:p>
        </p:txBody>
      </p:sp>
      <p:sp>
        <p:nvSpPr>
          <p:cNvPr id="3" name="Text Placeholder 2">
            <a:extLst>
              <a:ext uri="{FF2B5EF4-FFF2-40B4-BE49-F238E27FC236}">
                <a16:creationId xmlns:a16="http://schemas.microsoft.com/office/drawing/2014/main" id="{3E57C4E5-0DBC-E826-0D07-1CA666F5E765}"/>
              </a:ext>
            </a:extLst>
          </p:cNvPr>
          <p:cNvSpPr>
            <a:spLocks noGrp="1"/>
          </p:cNvSpPr>
          <p:nvPr>
            <p:ph type="body" idx="1"/>
          </p:nvPr>
        </p:nvSpPr>
        <p:spPr>
          <a:xfrm>
            <a:off x="659876" y="1743958"/>
            <a:ext cx="10693924" cy="4433003"/>
          </a:xfrm>
        </p:spPr>
        <p:txBody>
          <a:bodyPr>
            <a:normAutofit lnSpcReduction="10000"/>
          </a:bodyPr>
          <a:lstStyle/>
          <a:p>
            <a:pPr marL="114300" indent="0">
              <a:buNone/>
            </a:pPr>
            <a:r>
              <a:rPr lang="en-US" sz="2300" dirty="0">
                <a:solidFill>
                  <a:srgbClr val="191919"/>
                </a:solidFill>
                <a:latin typeface="Georgia"/>
              </a:rPr>
              <a:t>To analyze global electronics retail sales using Power BI and DAX and identify the main</a:t>
            </a:r>
            <a:r>
              <a:rPr lang="en-IN" sz="2400" dirty="0"/>
              <a:t> factors behind revenue growth and decline.</a:t>
            </a:r>
            <a:endParaRPr lang="en-US" sz="2100" dirty="0">
              <a:latin typeface="Times New Roman" panose="02020603050405020304" pitchFamily="18" charset="0"/>
              <a:cs typeface="Times New Roman" panose="02020603050405020304" pitchFamily="18" charset="0"/>
            </a:endParaRPr>
          </a:p>
          <a:p>
            <a:pPr marL="114300" indent="0">
              <a:buNone/>
            </a:pPr>
            <a:r>
              <a:rPr lang="en-IN" sz="2400" b="1" dirty="0">
                <a:latin typeface="Times New Roman" panose="02020603050405020304" pitchFamily="18" charset="0"/>
                <a:cs typeface="Times New Roman" panose="02020603050405020304" pitchFamily="18" charset="0"/>
              </a:rPr>
              <a:t>     Key goals:</a:t>
            </a:r>
          </a:p>
          <a:p>
            <a:pPr>
              <a:spcAft>
                <a:spcPts val="800"/>
              </a:spcAft>
              <a:defRPr sz="1700">
                <a:solidFill>
                  <a:srgbClr val="191919"/>
                </a:solidFill>
                <a:latin typeface="Georgia"/>
              </a:defRPr>
            </a:pPr>
            <a:r>
              <a:rPr lang="en-US" sz="2200" dirty="0"/>
              <a:t> Analyze revenue and order trends across years.</a:t>
            </a:r>
          </a:p>
          <a:p>
            <a:pPr>
              <a:spcAft>
                <a:spcPts val="800"/>
              </a:spcAft>
              <a:defRPr sz="1700">
                <a:solidFill>
                  <a:srgbClr val="191919"/>
                </a:solidFill>
                <a:latin typeface="Georgia"/>
              </a:defRPr>
            </a:pPr>
            <a:r>
              <a:rPr lang="en-US" sz="2200" dirty="0"/>
              <a:t> Compare revenue performance across countries.</a:t>
            </a:r>
          </a:p>
          <a:p>
            <a:pPr>
              <a:spcAft>
                <a:spcPts val="800"/>
              </a:spcAft>
              <a:defRPr sz="1700">
                <a:solidFill>
                  <a:srgbClr val="191919"/>
                </a:solidFill>
                <a:latin typeface="Georgia"/>
              </a:defRPr>
            </a:pPr>
            <a:r>
              <a:rPr lang="en-US" sz="2200" dirty="0"/>
              <a:t> Compare category performance and identify strong/weak categories.</a:t>
            </a:r>
          </a:p>
          <a:p>
            <a:pPr>
              <a:spcAft>
                <a:spcPts val="800"/>
              </a:spcAft>
              <a:defRPr sz="1700">
                <a:solidFill>
                  <a:srgbClr val="191919"/>
                </a:solidFill>
                <a:latin typeface="Georgia"/>
              </a:defRPr>
            </a:pPr>
            <a:r>
              <a:rPr lang="en-US" sz="2200" dirty="0"/>
              <a:t> Measure YoY revenue growth and average order value.</a:t>
            </a:r>
          </a:p>
          <a:p>
            <a:pPr>
              <a:spcAft>
                <a:spcPts val="800"/>
              </a:spcAft>
              <a:defRPr sz="1700">
                <a:solidFill>
                  <a:srgbClr val="191919"/>
                </a:solidFill>
                <a:latin typeface="Georgia"/>
              </a:defRPr>
            </a:pPr>
            <a:r>
              <a:rPr lang="en-US" sz="2200" dirty="0"/>
              <a:t> Analyze the separate impact of the 2020 decline.</a:t>
            </a:r>
          </a:p>
          <a:p>
            <a:pPr>
              <a:spcAft>
                <a:spcPts val="800"/>
              </a:spcAft>
              <a:defRPr sz="1700">
                <a:solidFill>
                  <a:srgbClr val="191919"/>
                </a:solidFill>
                <a:latin typeface="Georgia"/>
              </a:defRPr>
            </a:pPr>
            <a:r>
              <a:rPr lang="en-US" sz="2200" dirty="0"/>
              <a:t> Build an interactive Power BI dashboard for business analysis.</a:t>
            </a:r>
          </a:p>
          <a:p>
            <a:pPr marL="114300" indent="0">
              <a:buNone/>
            </a:pPr>
            <a:endParaRPr lang="en-US" sz="2000" dirty="0"/>
          </a:p>
          <a:p>
            <a:endParaRPr lang="en-US" sz="2000" b="1" dirty="0">
              <a:latin typeface="Times New Roman" panose="02020603050405020304" pitchFamily="18" charset="0"/>
              <a:cs typeface="Times New Roman" panose="02020603050405020304" pitchFamily="18" charset="0"/>
            </a:endParaRPr>
          </a:p>
          <a:p>
            <a:pPr marL="114300" indent="0">
              <a:buNone/>
            </a:pPr>
            <a:endParaRPr lang="en-IN" sz="21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71461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FEB21-3BD7-F0A0-5ABE-3AE1172CDAF6}"/>
              </a:ext>
            </a:extLst>
          </p:cNvPr>
          <p:cNvSpPr>
            <a:spLocks noGrp="1"/>
          </p:cNvSpPr>
          <p:nvPr>
            <p:ph type="title"/>
          </p:nvPr>
        </p:nvSpPr>
        <p:spPr>
          <a:xfrm>
            <a:off x="622171" y="459556"/>
            <a:ext cx="8757500" cy="372358"/>
          </a:xfrm>
        </p:spPr>
        <p:txBody>
          <a:bodyPr>
            <a:normAutofit fontScale="90000"/>
          </a:bodyPr>
          <a:lstStyle/>
          <a:p>
            <a:r>
              <a:rPr lang="en-IN" sz="3200" dirty="0">
                <a:latin typeface="Times New Roman" panose="02020603050405020304" pitchFamily="18" charset="0"/>
                <a:cs typeface="Times New Roman" panose="02020603050405020304" pitchFamily="18" charset="0"/>
              </a:rPr>
              <a:t>Dataset Overview :</a:t>
            </a:r>
            <a:endParaRPr lang="en-IN" dirty="0"/>
          </a:p>
        </p:txBody>
      </p:sp>
      <p:sp>
        <p:nvSpPr>
          <p:cNvPr id="3" name="Text Placeholder 2">
            <a:extLst>
              <a:ext uri="{FF2B5EF4-FFF2-40B4-BE49-F238E27FC236}">
                <a16:creationId xmlns:a16="http://schemas.microsoft.com/office/drawing/2014/main" id="{562EBD85-1549-F78A-0B8F-79BED9F6C6CE}"/>
              </a:ext>
            </a:extLst>
          </p:cNvPr>
          <p:cNvSpPr>
            <a:spLocks noGrp="1"/>
          </p:cNvSpPr>
          <p:nvPr>
            <p:ph type="body" idx="1"/>
          </p:nvPr>
        </p:nvSpPr>
        <p:spPr>
          <a:xfrm>
            <a:off x="395926" y="1140643"/>
            <a:ext cx="11057639" cy="5071622"/>
          </a:xfrm>
        </p:spPr>
        <p:txBody>
          <a:bodyPr>
            <a:normAutofit/>
          </a:bodyPr>
          <a:lstStyle/>
          <a:p>
            <a:r>
              <a:rPr lang="en-US" sz="2400" b="1" dirty="0">
                <a:latin typeface="Times New Roman" panose="02020603050405020304" pitchFamily="18" charset="0"/>
                <a:cs typeface="Times New Roman" panose="02020603050405020304" pitchFamily="18" charset="0"/>
              </a:rPr>
              <a:t>Total  Rows            : </a:t>
            </a:r>
            <a:r>
              <a:rPr lang="en-IN" sz="2400" dirty="0"/>
              <a:t>62,884</a:t>
            </a: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Total Columns       : </a:t>
            </a:r>
            <a:r>
              <a:rPr lang="en-IN" sz="2400" dirty="0"/>
              <a:t>37</a:t>
            </a:r>
            <a:endParaRPr lang="en-US" sz="2400" dirty="0">
              <a:latin typeface="Times New Roman" panose="02020603050405020304" pitchFamily="18" charset="0"/>
              <a:cs typeface="Times New Roman" panose="02020603050405020304" pitchFamily="18" charset="0"/>
            </a:endParaRPr>
          </a:p>
          <a:p>
            <a:r>
              <a:rPr lang="en-IN" sz="2400" b="1" dirty="0">
                <a:solidFill>
                  <a:srgbClr val="191919"/>
                </a:solidFill>
                <a:latin typeface="Georgia"/>
              </a:rPr>
              <a:t>Source                  : </a:t>
            </a:r>
            <a:r>
              <a:rPr lang="en-US" sz="2400" dirty="0">
                <a:solidFill>
                  <a:srgbClr val="191919"/>
                </a:solidFill>
                <a:latin typeface="Georgia"/>
              </a:rPr>
              <a:t>Maven Analytics — Global Electronics Retailer</a:t>
            </a:r>
          </a:p>
          <a:p>
            <a:r>
              <a:rPr lang="en-IN" sz="2400" b="1" dirty="0">
                <a:solidFill>
                  <a:srgbClr val="191919"/>
                </a:solidFill>
                <a:latin typeface="Georgia"/>
              </a:rPr>
              <a:t>Related tables    : </a:t>
            </a:r>
            <a:r>
              <a:rPr lang="en-US" sz="2400" dirty="0">
                <a:solidFill>
                  <a:srgbClr val="191919"/>
                </a:solidFill>
                <a:latin typeface="Georgia"/>
              </a:rPr>
              <a:t>Sales, Products, Customers, Stores, Exchange Rates</a:t>
            </a:r>
          </a:p>
          <a:p>
            <a:r>
              <a:rPr lang="en-IN" sz="2400" b="1" dirty="0">
                <a:solidFill>
                  <a:srgbClr val="191919"/>
                </a:solidFill>
                <a:latin typeface="Georgia"/>
              </a:rPr>
              <a:t>Coverage              : </a:t>
            </a:r>
            <a:r>
              <a:rPr lang="en-IN" sz="2400" dirty="0">
                <a:solidFill>
                  <a:srgbClr val="191919"/>
                </a:solidFill>
                <a:latin typeface="Georgia"/>
              </a:rPr>
              <a:t>9 countries/channels | 2016–2021</a:t>
            </a:r>
          </a:p>
          <a:p>
            <a:r>
              <a:rPr lang="en-IN" sz="2400" b="1" dirty="0">
                <a:solidFill>
                  <a:srgbClr val="191919"/>
                </a:solidFill>
                <a:latin typeface="Georgia"/>
              </a:rPr>
              <a:t>Important note  : </a:t>
            </a:r>
            <a:r>
              <a:rPr lang="en-US" sz="2400" dirty="0">
                <a:solidFill>
                  <a:srgbClr val="191919"/>
                </a:solidFill>
                <a:latin typeface="Georgia"/>
              </a:rPr>
              <a:t>2021 was excluded from the main year comparison    because it contains only 51 days of records.</a:t>
            </a:r>
          </a:p>
          <a:p>
            <a:endParaRPr lang="en-IN" sz="2400" b="1" dirty="0">
              <a:solidFill>
                <a:srgbClr val="191919"/>
              </a:solidFill>
              <a:latin typeface="Georgia"/>
            </a:endParaRPr>
          </a:p>
          <a:p>
            <a:endParaRPr lang="en-US" sz="2400" b="1" dirty="0">
              <a:solidFill>
                <a:srgbClr val="191919"/>
              </a:solidFill>
              <a:latin typeface="Georgia"/>
            </a:endParaRPr>
          </a:p>
          <a:p>
            <a:endParaRPr lang="en-IN" sz="2400" b="1" dirty="0">
              <a:solidFill>
                <a:srgbClr val="191919"/>
              </a:solidFill>
              <a:latin typeface="Georgia"/>
            </a:endParaRPr>
          </a:p>
          <a:p>
            <a:pPr marL="114300" indent="0">
              <a:buNone/>
            </a:pPr>
            <a:endParaRPr lang="en-IN" sz="2400" b="1" dirty="0">
              <a:solidFill>
                <a:srgbClr val="191919"/>
              </a:solidFill>
              <a:latin typeface="Georgia"/>
            </a:endParaRPr>
          </a:p>
          <a:p>
            <a:endParaRPr lang="en-US"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22074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A7EFD-7AB8-1894-EE76-672CFC62CA4A}"/>
              </a:ext>
            </a:extLst>
          </p:cNvPr>
          <p:cNvSpPr>
            <a:spLocks noGrp="1"/>
          </p:cNvSpPr>
          <p:nvPr>
            <p:ph type="title"/>
          </p:nvPr>
        </p:nvSpPr>
        <p:spPr>
          <a:xfrm>
            <a:off x="838200" y="365125"/>
            <a:ext cx="10515600" cy="1293993"/>
          </a:xfrm>
        </p:spPr>
        <p:txBody>
          <a:bodyPr/>
          <a:lstStyle/>
          <a:p>
            <a:r>
              <a:rPr lang="en-IN" sz="3200" dirty="0">
                <a:latin typeface="Times New Roman" panose="02020603050405020304" pitchFamily="18" charset="0"/>
                <a:cs typeface="Times New Roman" panose="02020603050405020304" pitchFamily="18" charset="0"/>
              </a:rPr>
              <a:t>Data Cleaning &amp; Transformation :</a:t>
            </a:r>
            <a:endParaRPr lang="en-IN" dirty="0"/>
          </a:p>
        </p:txBody>
      </p:sp>
      <p:sp>
        <p:nvSpPr>
          <p:cNvPr id="3" name="Text Placeholder 2">
            <a:extLst>
              <a:ext uri="{FF2B5EF4-FFF2-40B4-BE49-F238E27FC236}">
                <a16:creationId xmlns:a16="http://schemas.microsoft.com/office/drawing/2014/main" id="{AFD4BC7A-BC0D-97B3-4D7D-EB3C970F5B9E}"/>
              </a:ext>
            </a:extLst>
          </p:cNvPr>
          <p:cNvSpPr>
            <a:spLocks noGrp="1"/>
          </p:cNvSpPr>
          <p:nvPr>
            <p:ph type="body" idx="1"/>
          </p:nvPr>
        </p:nvSpPr>
        <p:spPr/>
        <p:txBody>
          <a:bodyPr/>
          <a:lstStyle/>
          <a:p>
            <a:r>
              <a:rPr lang="en-IN" sz="2100" dirty="0"/>
              <a:t>Imported and cleaned the source tables using Power Query.</a:t>
            </a:r>
            <a:endParaRPr lang="en-US" sz="2100" dirty="0">
              <a:latin typeface="Times New Roman" panose="02020603050405020304" pitchFamily="18" charset="0"/>
              <a:cs typeface="Times New Roman" panose="02020603050405020304" pitchFamily="18" charset="0"/>
            </a:endParaRPr>
          </a:p>
          <a:p>
            <a:r>
              <a:rPr lang="en-IN" sz="2100" dirty="0"/>
              <a:t>Fixed the Order Date locale/format error using Change Type with Locale (English UK), reducing errors from 61% to 0%.</a:t>
            </a:r>
            <a:endParaRPr lang="en-US" sz="2100" dirty="0">
              <a:latin typeface="Times New Roman" panose="02020603050405020304" pitchFamily="18" charset="0"/>
              <a:cs typeface="Times New Roman" panose="02020603050405020304" pitchFamily="18" charset="0"/>
            </a:endParaRPr>
          </a:p>
          <a:p>
            <a:r>
              <a:rPr lang="en-IN" sz="2100" dirty="0"/>
              <a:t>Investigated missing Delivery Date values; around 79% were blank, so the blanks were retained.</a:t>
            </a:r>
            <a:endParaRPr lang="en-US" sz="2100" dirty="0">
              <a:latin typeface="Times New Roman" panose="02020603050405020304" pitchFamily="18" charset="0"/>
              <a:cs typeface="Times New Roman" panose="02020603050405020304" pitchFamily="18" charset="0"/>
            </a:endParaRPr>
          </a:p>
          <a:p>
            <a:r>
              <a:rPr lang="en-IN" sz="2100" dirty="0"/>
              <a:t>Verified the data types of the required columns.</a:t>
            </a:r>
            <a:endParaRPr lang="en-US" sz="2100" dirty="0">
              <a:latin typeface="Times New Roman" panose="02020603050405020304" pitchFamily="18" charset="0"/>
              <a:cs typeface="Times New Roman" panose="02020603050405020304" pitchFamily="18" charset="0"/>
            </a:endParaRPr>
          </a:p>
          <a:p>
            <a:r>
              <a:rPr lang="en-IN" sz="2100" dirty="0"/>
              <a:t>Checked and validated the cleaned data before building the data model and dashboard.</a:t>
            </a:r>
            <a:endParaRPr lang="en-US" sz="2100" dirty="0">
              <a:latin typeface="Times New Roman" panose="02020603050405020304" pitchFamily="18" charset="0"/>
              <a:cs typeface="Times New Roman" panose="02020603050405020304" pitchFamily="18" charset="0"/>
            </a:endParaRPr>
          </a:p>
          <a:p>
            <a:pPr marL="114300" indent="0">
              <a:buNone/>
            </a:pPr>
            <a:endParaRPr lang="en-IN" dirty="0"/>
          </a:p>
        </p:txBody>
      </p:sp>
    </p:spTree>
    <p:extLst>
      <p:ext uri="{BB962C8B-B14F-4D97-AF65-F5344CB8AC3E}">
        <p14:creationId xmlns:p14="http://schemas.microsoft.com/office/powerpoint/2010/main" val="11067179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64B8A-80DC-8F47-33E9-1CC689AF8E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5CD227-F3B8-5FDC-18F3-68DA37F1E458}"/>
              </a:ext>
            </a:extLst>
          </p:cNvPr>
          <p:cNvSpPr>
            <a:spLocks noGrp="1"/>
          </p:cNvSpPr>
          <p:nvPr>
            <p:ph type="title"/>
          </p:nvPr>
        </p:nvSpPr>
        <p:spPr/>
        <p:txBody>
          <a:bodyPr/>
          <a:lstStyle/>
          <a:p>
            <a:r>
              <a:rPr lang="en-IN" sz="3200" dirty="0"/>
              <a:t>Data Modeling</a:t>
            </a:r>
            <a:r>
              <a:rPr lang="en-IN" sz="3200" dirty="0">
                <a:latin typeface="Times New Roman" panose="02020603050405020304" pitchFamily="18" charset="0"/>
                <a:cs typeface="Times New Roman" panose="02020603050405020304" pitchFamily="18" charset="0"/>
              </a:rPr>
              <a:t>:</a:t>
            </a:r>
            <a:endParaRPr lang="en-IN" dirty="0"/>
          </a:p>
        </p:txBody>
      </p:sp>
      <p:sp>
        <p:nvSpPr>
          <p:cNvPr id="6" name="Text Placeholder 5">
            <a:extLst>
              <a:ext uri="{FF2B5EF4-FFF2-40B4-BE49-F238E27FC236}">
                <a16:creationId xmlns:a16="http://schemas.microsoft.com/office/drawing/2014/main" id="{37C2E108-BD26-4310-E0AE-37C6E1F338BC}"/>
              </a:ext>
            </a:extLst>
          </p:cNvPr>
          <p:cNvSpPr>
            <a:spLocks noGrp="1"/>
          </p:cNvSpPr>
          <p:nvPr>
            <p:ph type="body" idx="1"/>
          </p:nvPr>
        </p:nvSpPr>
        <p:spPr>
          <a:xfrm>
            <a:off x="838200" y="1413294"/>
            <a:ext cx="5821680" cy="4763669"/>
          </a:xfrm>
        </p:spPr>
        <p:txBody>
          <a:bodyPr/>
          <a:lstStyle/>
          <a:p>
            <a:endParaRPr lang="en-IN" dirty="0"/>
          </a:p>
        </p:txBody>
      </p:sp>
      <p:sp>
        <p:nvSpPr>
          <p:cNvPr id="7" name="Text Placeholder 6">
            <a:extLst>
              <a:ext uri="{FF2B5EF4-FFF2-40B4-BE49-F238E27FC236}">
                <a16:creationId xmlns:a16="http://schemas.microsoft.com/office/drawing/2014/main" id="{49BB6D73-2110-926B-339E-0D0934B2C256}"/>
              </a:ext>
            </a:extLst>
          </p:cNvPr>
          <p:cNvSpPr>
            <a:spLocks noGrp="1"/>
          </p:cNvSpPr>
          <p:nvPr>
            <p:ph type="body" idx="2"/>
          </p:nvPr>
        </p:nvSpPr>
        <p:spPr>
          <a:xfrm>
            <a:off x="6888480" y="1413294"/>
            <a:ext cx="4465320" cy="4763669"/>
          </a:xfrm>
        </p:spPr>
        <p:txBody>
          <a:bodyPr>
            <a:normAutofit/>
          </a:bodyPr>
          <a:lstStyle/>
          <a:p>
            <a:pPr lvl="0"/>
            <a:r>
              <a:rPr lang="en-IN" sz="2300" dirty="0"/>
              <a:t>Built a star-schema data model with Sales as the main fact table. </a:t>
            </a:r>
          </a:p>
          <a:p>
            <a:pPr lvl="0"/>
            <a:r>
              <a:rPr lang="en-IN" sz="2300" dirty="0"/>
              <a:t>Connected Sales with Customers, Products, Stores, and Calendar tables. </a:t>
            </a:r>
          </a:p>
          <a:p>
            <a:pPr lvl="0"/>
            <a:r>
              <a:rPr lang="en-IN" sz="2300" dirty="0"/>
              <a:t>Created a separate Calendar table for time-based analysis. </a:t>
            </a:r>
          </a:p>
          <a:p>
            <a:pPr lvl="0"/>
            <a:r>
              <a:rPr lang="en-IN" sz="2300" dirty="0"/>
              <a:t>Created a separate _measures table to organize DAX measures.</a:t>
            </a:r>
          </a:p>
          <a:p>
            <a:pPr marL="114300" indent="0">
              <a:buNone/>
            </a:pPr>
            <a:endParaRPr lang="en-IN" dirty="0"/>
          </a:p>
        </p:txBody>
      </p:sp>
      <p:pic>
        <p:nvPicPr>
          <p:cNvPr id="5" name="Picture 4">
            <a:extLst>
              <a:ext uri="{FF2B5EF4-FFF2-40B4-BE49-F238E27FC236}">
                <a16:creationId xmlns:a16="http://schemas.microsoft.com/office/drawing/2014/main" id="{CE6DD57F-1F3D-CE8E-10C6-6434B9676FEA}"/>
              </a:ext>
            </a:extLst>
          </p:cNvPr>
          <p:cNvPicPr>
            <a:picLocks noChangeAspect="1"/>
          </p:cNvPicPr>
          <p:nvPr/>
        </p:nvPicPr>
        <p:blipFill>
          <a:blip r:embed="rId2"/>
          <a:stretch>
            <a:fillRect/>
          </a:stretch>
        </p:blipFill>
        <p:spPr>
          <a:xfrm>
            <a:off x="949417" y="1515291"/>
            <a:ext cx="5619023" cy="4534989"/>
          </a:xfrm>
          <a:prstGeom prst="rect">
            <a:avLst/>
          </a:prstGeom>
        </p:spPr>
      </p:pic>
    </p:spTree>
    <p:extLst>
      <p:ext uri="{BB962C8B-B14F-4D97-AF65-F5344CB8AC3E}">
        <p14:creationId xmlns:p14="http://schemas.microsoft.com/office/powerpoint/2010/main" val="15122911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6006D-E712-C4C5-26EF-B19048A11AAF}"/>
              </a:ext>
            </a:extLst>
          </p:cNvPr>
          <p:cNvSpPr>
            <a:spLocks noGrp="1"/>
          </p:cNvSpPr>
          <p:nvPr>
            <p:ph type="title"/>
          </p:nvPr>
        </p:nvSpPr>
        <p:spPr>
          <a:xfrm>
            <a:off x="838200" y="292232"/>
            <a:ext cx="10515600" cy="999240"/>
          </a:xfrm>
        </p:spPr>
        <p:txBody>
          <a:bodyPr/>
          <a:lstStyle/>
          <a:p>
            <a:r>
              <a:rPr lang="en-IN" sz="3200" dirty="0">
                <a:latin typeface="Times New Roman" panose="02020603050405020304" pitchFamily="18" charset="0"/>
                <a:cs typeface="Times New Roman" panose="02020603050405020304" pitchFamily="18" charset="0"/>
              </a:rPr>
              <a:t>DAX Measures Created :</a:t>
            </a:r>
          </a:p>
        </p:txBody>
      </p:sp>
      <p:sp>
        <p:nvSpPr>
          <p:cNvPr id="3" name="Text Placeholder 2">
            <a:extLst>
              <a:ext uri="{FF2B5EF4-FFF2-40B4-BE49-F238E27FC236}">
                <a16:creationId xmlns:a16="http://schemas.microsoft.com/office/drawing/2014/main" id="{5DDF95EF-2980-B0DA-B504-2A3E345C2693}"/>
              </a:ext>
            </a:extLst>
          </p:cNvPr>
          <p:cNvSpPr>
            <a:spLocks noGrp="1"/>
          </p:cNvSpPr>
          <p:nvPr>
            <p:ph type="body" idx="1"/>
          </p:nvPr>
        </p:nvSpPr>
        <p:spPr>
          <a:xfrm>
            <a:off x="725864" y="1442301"/>
            <a:ext cx="10627936" cy="4734662"/>
          </a:xfrm>
        </p:spPr>
        <p:txBody>
          <a:bodyPr>
            <a:normAutofit/>
          </a:bodyPr>
          <a:lstStyle/>
          <a:p>
            <a:r>
              <a:rPr lang="en-IN" sz="2100" dirty="0"/>
              <a:t>Total Revenue — calculates revenue using SUMX and RELATED.</a:t>
            </a:r>
          </a:p>
          <a:p>
            <a:r>
              <a:rPr lang="en-IN" sz="2100" dirty="0"/>
              <a:t>Total Orders — counts the distinct orders using DISTINCTCOUNT.</a:t>
            </a:r>
          </a:p>
          <a:p>
            <a:r>
              <a:rPr lang="en-IN" sz="2100" dirty="0"/>
              <a:t>Total Customers — counts distinct customers using DISTINCTCOUNT.</a:t>
            </a:r>
          </a:p>
          <a:p>
            <a:r>
              <a:rPr lang="en-IN" sz="2100" dirty="0"/>
              <a:t>Average Order Value — calculates the average revenue per order using DIVIDE.</a:t>
            </a:r>
          </a:p>
          <a:p>
            <a:r>
              <a:rPr lang="en-IN" sz="2100" dirty="0"/>
              <a:t>Revenue LY — calculates revenue for the same period in the previous year using SAMEPERIODLASTYEAR.</a:t>
            </a:r>
          </a:p>
          <a:p>
            <a:r>
              <a:rPr lang="en-IN" sz="2100" dirty="0"/>
              <a:t>Revenue YoY % — measures the percentage change in revenue compared with the previous year.</a:t>
            </a:r>
          </a:p>
          <a:p>
            <a:r>
              <a:rPr lang="en-IN" sz="2100" dirty="0"/>
              <a:t>Revenue YoY 2020 — measures the year-over-year revenue change specifically for 2020.</a:t>
            </a:r>
          </a:p>
          <a:p>
            <a:r>
              <a:rPr lang="en-IN" sz="2100" dirty="0"/>
              <a:t>Country Rank — ranks countries based on their revenue performance using RANKX.</a:t>
            </a:r>
          </a:p>
          <a:p>
            <a:endParaRPr lang="en-IN" sz="2100"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25776395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36823-BB92-7CCA-D07E-C0F9DB7A271C}"/>
              </a:ext>
            </a:extLst>
          </p:cNvPr>
          <p:cNvSpPr>
            <a:spLocks noGrp="1"/>
          </p:cNvSpPr>
          <p:nvPr>
            <p:ph type="title"/>
          </p:nvPr>
        </p:nvSpPr>
        <p:spPr>
          <a:xfrm>
            <a:off x="838200" y="254000"/>
            <a:ext cx="10515600" cy="1007533"/>
          </a:xfrm>
        </p:spPr>
        <p:txBody>
          <a:bodyPr/>
          <a:lstStyle/>
          <a:p>
            <a:r>
              <a:rPr lang="en-IN" sz="3200" dirty="0"/>
              <a:t>Dashboard Highlights – Overview</a:t>
            </a:r>
            <a:r>
              <a:rPr lang="en-IN" sz="3200" dirty="0">
                <a:latin typeface="Times New Roman" panose="02020603050405020304" pitchFamily="18" charset="0"/>
                <a:cs typeface="Times New Roman" panose="02020603050405020304" pitchFamily="18" charset="0"/>
              </a:rPr>
              <a:t>:</a:t>
            </a:r>
          </a:p>
        </p:txBody>
      </p:sp>
      <p:sp>
        <p:nvSpPr>
          <p:cNvPr id="3" name="Text Placeholder 2">
            <a:extLst>
              <a:ext uri="{FF2B5EF4-FFF2-40B4-BE49-F238E27FC236}">
                <a16:creationId xmlns:a16="http://schemas.microsoft.com/office/drawing/2014/main" id="{D187E644-104F-4366-C988-F716094337CB}"/>
              </a:ext>
            </a:extLst>
          </p:cNvPr>
          <p:cNvSpPr>
            <a:spLocks noGrp="1"/>
          </p:cNvSpPr>
          <p:nvPr>
            <p:ph type="body" idx="1"/>
          </p:nvPr>
        </p:nvSpPr>
        <p:spPr>
          <a:xfrm>
            <a:off x="838200" y="1168400"/>
            <a:ext cx="10515600" cy="5008563"/>
          </a:xfrm>
        </p:spPr>
        <p:txBody>
          <a:bodyPr/>
          <a:lstStyle/>
          <a:p>
            <a:pPr marL="114300" indent="0">
              <a:buNone/>
            </a:pPr>
            <a:endParaRPr lang="en-US" sz="21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B3B8C20-716A-C562-C0EB-DF3830A24436}"/>
              </a:ext>
            </a:extLst>
          </p:cNvPr>
          <p:cNvPicPr>
            <a:picLocks noChangeAspect="1"/>
          </p:cNvPicPr>
          <p:nvPr/>
        </p:nvPicPr>
        <p:blipFill>
          <a:blip r:embed="rId2"/>
          <a:stretch>
            <a:fillRect/>
          </a:stretch>
        </p:blipFill>
        <p:spPr>
          <a:xfrm>
            <a:off x="922867" y="1261532"/>
            <a:ext cx="10337800" cy="4792135"/>
          </a:xfrm>
          <a:prstGeom prst="rect">
            <a:avLst/>
          </a:prstGeom>
        </p:spPr>
      </p:pic>
    </p:spTree>
    <p:extLst>
      <p:ext uri="{BB962C8B-B14F-4D97-AF65-F5344CB8AC3E}">
        <p14:creationId xmlns:p14="http://schemas.microsoft.com/office/powerpoint/2010/main" val="457910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F2821-21E8-FE7A-32AD-A95FE3D5A3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BC6F27-50A7-9538-CDCB-8B4900DF8B68}"/>
              </a:ext>
            </a:extLst>
          </p:cNvPr>
          <p:cNvSpPr>
            <a:spLocks noGrp="1"/>
          </p:cNvSpPr>
          <p:nvPr>
            <p:ph type="title"/>
          </p:nvPr>
        </p:nvSpPr>
        <p:spPr>
          <a:xfrm>
            <a:off x="838200" y="254000"/>
            <a:ext cx="10515600" cy="1007533"/>
          </a:xfrm>
        </p:spPr>
        <p:txBody>
          <a:bodyPr/>
          <a:lstStyle/>
          <a:p>
            <a:r>
              <a:rPr lang="en-IN" sz="3200" dirty="0"/>
              <a:t>Dashboard Highlights – Country Performance</a:t>
            </a:r>
            <a:r>
              <a:rPr lang="en-IN" sz="3200" dirty="0">
                <a:latin typeface="Times New Roman" panose="02020603050405020304" pitchFamily="18" charset="0"/>
                <a:cs typeface="Times New Roman" panose="02020603050405020304" pitchFamily="18" charset="0"/>
              </a:rPr>
              <a:t>:</a:t>
            </a:r>
          </a:p>
        </p:txBody>
      </p:sp>
      <p:sp>
        <p:nvSpPr>
          <p:cNvPr id="3" name="Text Placeholder 2">
            <a:extLst>
              <a:ext uri="{FF2B5EF4-FFF2-40B4-BE49-F238E27FC236}">
                <a16:creationId xmlns:a16="http://schemas.microsoft.com/office/drawing/2014/main" id="{F514FFF4-5EBB-378E-27F3-7FC2C46FCE05}"/>
              </a:ext>
            </a:extLst>
          </p:cNvPr>
          <p:cNvSpPr>
            <a:spLocks noGrp="1"/>
          </p:cNvSpPr>
          <p:nvPr>
            <p:ph type="body" idx="1"/>
          </p:nvPr>
        </p:nvSpPr>
        <p:spPr>
          <a:xfrm>
            <a:off x="838200" y="1168400"/>
            <a:ext cx="10515600" cy="5008563"/>
          </a:xfrm>
        </p:spPr>
        <p:txBody>
          <a:bodyPr/>
          <a:lstStyle/>
          <a:p>
            <a:pPr marL="114300" indent="0">
              <a:buNone/>
            </a:pPr>
            <a:endParaRPr lang="en-US" sz="21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9CFD193-B537-7152-8105-257E6E0CCBBA}"/>
              </a:ext>
            </a:extLst>
          </p:cNvPr>
          <p:cNvPicPr>
            <a:picLocks noChangeAspect="1"/>
          </p:cNvPicPr>
          <p:nvPr/>
        </p:nvPicPr>
        <p:blipFill>
          <a:blip r:embed="rId2"/>
          <a:stretch>
            <a:fillRect/>
          </a:stretch>
        </p:blipFill>
        <p:spPr>
          <a:xfrm>
            <a:off x="923109" y="1261533"/>
            <a:ext cx="10430691" cy="4817050"/>
          </a:xfrm>
          <a:prstGeom prst="rect">
            <a:avLst/>
          </a:prstGeom>
        </p:spPr>
      </p:pic>
    </p:spTree>
    <p:extLst>
      <p:ext uri="{BB962C8B-B14F-4D97-AF65-F5344CB8AC3E}">
        <p14:creationId xmlns:p14="http://schemas.microsoft.com/office/powerpoint/2010/main" val="2430316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6BDE4-BE50-FB67-F569-4A212E1EE2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3126D3-AD43-1221-5506-7BD51AA7A225}"/>
              </a:ext>
            </a:extLst>
          </p:cNvPr>
          <p:cNvSpPr>
            <a:spLocks noGrp="1"/>
          </p:cNvSpPr>
          <p:nvPr>
            <p:ph type="title"/>
          </p:nvPr>
        </p:nvSpPr>
        <p:spPr>
          <a:xfrm>
            <a:off x="838200" y="254000"/>
            <a:ext cx="10515600" cy="1007533"/>
          </a:xfrm>
        </p:spPr>
        <p:txBody>
          <a:bodyPr/>
          <a:lstStyle/>
          <a:p>
            <a:r>
              <a:rPr lang="en-IN" sz="3200" dirty="0"/>
              <a:t>Dashboard Highlights – Category Performance</a:t>
            </a:r>
            <a:r>
              <a:rPr lang="en-IN" sz="3200" dirty="0">
                <a:latin typeface="Times New Roman" panose="02020603050405020304" pitchFamily="18" charset="0"/>
                <a:cs typeface="Times New Roman" panose="02020603050405020304" pitchFamily="18" charset="0"/>
              </a:rPr>
              <a:t>:</a:t>
            </a:r>
          </a:p>
        </p:txBody>
      </p:sp>
      <p:sp>
        <p:nvSpPr>
          <p:cNvPr id="3" name="Text Placeholder 2">
            <a:extLst>
              <a:ext uri="{FF2B5EF4-FFF2-40B4-BE49-F238E27FC236}">
                <a16:creationId xmlns:a16="http://schemas.microsoft.com/office/drawing/2014/main" id="{8730E407-9D45-B6FB-7D5F-3F0C9EA1B8A6}"/>
              </a:ext>
            </a:extLst>
          </p:cNvPr>
          <p:cNvSpPr>
            <a:spLocks noGrp="1"/>
          </p:cNvSpPr>
          <p:nvPr>
            <p:ph type="body" idx="1"/>
          </p:nvPr>
        </p:nvSpPr>
        <p:spPr>
          <a:xfrm>
            <a:off x="838200" y="1168400"/>
            <a:ext cx="10515600" cy="5008563"/>
          </a:xfrm>
        </p:spPr>
        <p:txBody>
          <a:bodyPr/>
          <a:lstStyle/>
          <a:p>
            <a:pPr marL="114300" indent="0">
              <a:buNone/>
            </a:pPr>
            <a:endParaRPr lang="en-US" sz="21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6ACB2EA6-D0B2-B378-109F-8950AD9BBE79}"/>
              </a:ext>
            </a:extLst>
          </p:cNvPr>
          <p:cNvPicPr>
            <a:picLocks noChangeAspect="1"/>
          </p:cNvPicPr>
          <p:nvPr/>
        </p:nvPicPr>
        <p:blipFill>
          <a:blip r:embed="rId2"/>
          <a:stretch>
            <a:fillRect/>
          </a:stretch>
        </p:blipFill>
        <p:spPr>
          <a:xfrm>
            <a:off x="929192" y="1261533"/>
            <a:ext cx="10333615" cy="4851884"/>
          </a:xfrm>
          <a:prstGeom prst="rect">
            <a:avLst/>
          </a:prstGeom>
        </p:spPr>
      </p:pic>
    </p:spTree>
    <p:extLst>
      <p:ext uri="{BB962C8B-B14F-4D97-AF65-F5344CB8AC3E}">
        <p14:creationId xmlns:p14="http://schemas.microsoft.com/office/powerpoint/2010/main" val="26595025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EBDB9-3E1B-A18B-8CE2-1D1B817F4C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BF1AB0-2C12-94E1-F837-7D7F90C4F7FC}"/>
              </a:ext>
            </a:extLst>
          </p:cNvPr>
          <p:cNvSpPr>
            <a:spLocks noGrp="1"/>
          </p:cNvSpPr>
          <p:nvPr>
            <p:ph type="title"/>
          </p:nvPr>
        </p:nvSpPr>
        <p:spPr>
          <a:xfrm>
            <a:off x="838200" y="254000"/>
            <a:ext cx="10515600" cy="1007533"/>
          </a:xfrm>
        </p:spPr>
        <p:txBody>
          <a:bodyPr/>
          <a:lstStyle/>
          <a:p>
            <a:r>
              <a:rPr lang="en-IN" sz="3200" dirty="0"/>
              <a:t>Dashboard Highlights – 2020 Impact</a:t>
            </a:r>
            <a:r>
              <a:rPr lang="en-IN" sz="3200" dirty="0">
                <a:latin typeface="Times New Roman" panose="02020603050405020304" pitchFamily="18" charset="0"/>
                <a:cs typeface="Times New Roman" panose="02020603050405020304" pitchFamily="18" charset="0"/>
              </a:rPr>
              <a:t>:</a:t>
            </a:r>
          </a:p>
        </p:txBody>
      </p:sp>
      <p:sp>
        <p:nvSpPr>
          <p:cNvPr id="3" name="Text Placeholder 2">
            <a:extLst>
              <a:ext uri="{FF2B5EF4-FFF2-40B4-BE49-F238E27FC236}">
                <a16:creationId xmlns:a16="http://schemas.microsoft.com/office/drawing/2014/main" id="{BD0FB593-3061-3C58-83D7-DDE1FCEE1E8A}"/>
              </a:ext>
            </a:extLst>
          </p:cNvPr>
          <p:cNvSpPr>
            <a:spLocks noGrp="1"/>
          </p:cNvSpPr>
          <p:nvPr>
            <p:ph type="body" idx="1"/>
          </p:nvPr>
        </p:nvSpPr>
        <p:spPr>
          <a:xfrm>
            <a:off x="838200" y="1168400"/>
            <a:ext cx="10515600" cy="5008563"/>
          </a:xfrm>
        </p:spPr>
        <p:txBody>
          <a:bodyPr/>
          <a:lstStyle/>
          <a:p>
            <a:pPr marL="114300" indent="0">
              <a:buNone/>
            </a:pPr>
            <a:endParaRPr lang="en-US" sz="21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12380E9D-E1F9-211F-AB5F-8C536D8361EB}"/>
              </a:ext>
            </a:extLst>
          </p:cNvPr>
          <p:cNvPicPr>
            <a:picLocks noChangeAspect="1"/>
          </p:cNvPicPr>
          <p:nvPr/>
        </p:nvPicPr>
        <p:blipFill>
          <a:blip r:embed="rId2"/>
          <a:stretch>
            <a:fillRect/>
          </a:stretch>
        </p:blipFill>
        <p:spPr>
          <a:xfrm>
            <a:off x="914400" y="1261533"/>
            <a:ext cx="10371667" cy="4842934"/>
          </a:xfrm>
          <a:prstGeom prst="rect">
            <a:avLst/>
          </a:prstGeom>
        </p:spPr>
      </p:pic>
    </p:spTree>
    <p:extLst>
      <p:ext uri="{BB962C8B-B14F-4D97-AF65-F5344CB8AC3E}">
        <p14:creationId xmlns:p14="http://schemas.microsoft.com/office/powerpoint/2010/main" val="36248997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23BFA-A150-9609-E11B-BD3B110E4D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A3F3CE-EA18-FD1E-755A-385FD2BA0CAA}"/>
              </a:ext>
            </a:extLst>
          </p:cNvPr>
          <p:cNvSpPr>
            <a:spLocks noGrp="1"/>
          </p:cNvSpPr>
          <p:nvPr>
            <p:ph type="title"/>
          </p:nvPr>
        </p:nvSpPr>
        <p:spPr/>
        <p:txBody>
          <a:bodyPr/>
          <a:lstStyle/>
          <a:p>
            <a:r>
              <a:rPr lang="en-IN" sz="3200" dirty="0">
                <a:latin typeface="Times New Roman" panose="02020603050405020304" pitchFamily="18" charset="0"/>
                <a:cs typeface="Times New Roman" panose="02020603050405020304" pitchFamily="18" charset="0"/>
              </a:rPr>
              <a:t>Key Insights :</a:t>
            </a:r>
          </a:p>
        </p:txBody>
      </p:sp>
      <p:sp>
        <p:nvSpPr>
          <p:cNvPr id="3" name="Text Placeholder 2">
            <a:extLst>
              <a:ext uri="{FF2B5EF4-FFF2-40B4-BE49-F238E27FC236}">
                <a16:creationId xmlns:a16="http://schemas.microsoft.com/office/drawing/2014/main" id="{068A363A-BFFF-69E5-1F65-C7B716F5CB9F}"/>
              </a:ext>
            </a:extLst>
          </p:cNvPr>
          <p:cNvSpPr>
            <a:spLocks noGrp="1"/>
          </p:cNvSpPr>
          <p:nvPr>
            <p:ph type="body" idx="1"/>
          </p:nvPr>
        </p:nvSpPr>
        <p:spPr>
          <a:xfrm>
            <a:off x="838200" y="1515533"/>
            <a:ext cx="10515600" cy="4661430"/>
          </a:xfrm>
        </p:spPr>
        <p:txBody>
          <a:bodyPr/>
          <a:lstStyle/>
          <a:p>
            <a:r>
              <a:rPr lang="en-IN" sz="2200" dirty="0"/>
              <a:t>Overall revenue growth slowed from 72% in 2018 to 43% in 2019.</a:t>
            </a:r>
          </a:p>
          <a:p>
            <a:r>
              <a:rPr lang="en-IN" sz="2200" dirty="0"/>
              <a:t>Italy recorded the lowest revenue growth in 2019 at 9.36%.</a:t>
            </a:r>
          </a:p>
          <a:p>
            <a:r>
              <a:rPr lang="en-IN" sz="2200" dirty="0"/>
              <a:t>Games &amp; Toys was the strongest-growing category, with 105.69% growth.</a:t>
            </a:r>
          </a:p>
          <a:p>
            <a:r>
              <a:rPr lang="en-IN" sz="2200" dirty="0"/>
              <a:t>Home Appliances was the only category to decline in 2019, by 4.73%.</a:t>
            </a:r>
          </a:p>
          <a:p>
            <a:r>
              <a:rPr lang="en-US" sz="2200" dirty="0"/>
              <a:t>Revenue fell by approximately 49% in 2020.</a:t>
            </a:r>
          </a:p>
          <a:p>
            <a:r>
              <a:rPr lang="en-US" sz="2200" dirty="0"/>
              <a:t>The 2020 decline was analyzed separately because the sharp decline around March coincided with the COVID period.</a:t>
            </a:r>
          </a:p>
          <a:p>
            <a:r>
              <a:rPr lang="en-IN" sz="2200" dirty="0"/>
              <a:t>2021 was excluded from the main trend analysis because it contained only 51 days of data.</a:t>
            </a:r>
          </a:p>
          <a:p>
            <a:endParaRPr lang="en-US"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85312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8FB99-0F5C-5EB5-AD05-0B49E51F0673}"/>
              </a:ext>
            </a:extLst>
          </p:cNvPr>
          <p:cNvSpPr>
            <a:spLocks noGrp="1"/>
          </p:cNvSpPr>
          <p:nvPr>
            <p:ph type="title"/>
          </p:nvPr>
        </p:nvSpPr>
        <p:spPr/>
        <p:txBody>
          <a:bodyPr/>
          <a:lstStyle/>
          <a:p>
            <a:r>
              <a:rPr lang="en-IN" sz="3200" dirty="0">
                <a:latin typeface="Times New Roman" panose="02020603050405020304" pitchFamily="18" charset="0"/>
                <a:cs typeface="Times New Roman" panose="02020603050405020304" pitchFamily="18" charset="0"/>
              </a:rPr>
              <a:t>Challenges Faced :</a:t>
            </a:r>
          </a:p>
        </p:txBody>
      </p:sp>
      <p:sp>
        <p:nvSpPr>
          <p:cNvPr id="3" name="Text Placeholder 2">
            <a:extLst>
              <a:ext uri="{FF2B5EF4-FFF2-40B4-BE49-F238E27FC236}">
                <a16:creationId xmlns:a16="http://schemas.microsoft.com/office/drawing/2014/main" id="{EE7AF13E-D556-D85F-D925-72B166E11F68}"/>
              </a:ext>
            </a:extLst>
          </p:cNvPr>
          <p:cNvSpPr>
            <a:spLocks noGrp="1"/>
          </p:cNvSpPr>
          <p:nvPr>
            <p:ph type="body" idx="1"/>
          </p:nvPr>
        </p:nvSpPr>
        <p:spPr/>
        <p:txBody>
          <a:bodyPr/>
          <a:lstStyle/>
          <a:p>
            <a:r>
              <a:rPr lang="en-IN" sz="2100" dirty="0"/>
              <a:t>Handling the Order Date locale/format issue, which initially caused 61% errors.</a:t>
            </a:r>
          </a:p>
          <a:p>
            <a:r>
              <a:rPr lang="en-IN" sz="2100" dirty="0"/>
              <a:t>Investigating the high number of missing Delivery Date values, with around 79% blanks.</a:t>
            </a:r>
          </a:p>
          <a:p>
            <a:r>
              <a:rPr lang="en-IN" sz="2100" dirty="0"/>
              <a:t>Identifying the incomplete 2021 data and excluding it from the main year-over-year trend analysis.</a:t>
            </a:r>
          </a:p>
          <a:p>
            <a:r>
              <a:rPr lang="en-IN" sz="2100" dirty="0"/>
              <a:t>Separating the 2020 revenue decline from the normal business trend and analyzing the month-by-month impact.</a:t>
            </a:r>
          </a:p>
          <a:p>
            <a:pPr marL="114300" indent="0">
              <a:buNone/>
            </a:pPr>
            <a:endParaRPr lang="en-IN"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535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5BE7A-D428-5727-0FA6-AB2EB04EDB9C}"/>
              </a:ext>
            </a:extLst>
          </p:cNvPr>
          <p:cNvSpPr>
            <a:spLocks noGrp="1"/>
          </p:cNvSpPr>
          <p:nvPr>
            <p:ph type="title"/>
          </p:nvPr>
        </p:nvSpPr>
        <p:spPr/>
        <p:txBody>
          <a:bodyPr/>
          <a:lstStyle/>
          <a:p>
            <a:r>
              <a:rPr lang="en-IN" sz="3200" dirty="0">
                <a:latin typeface="Times New Roman" panose="02020603050405020304" pitchFamily="18" charset="0"/>
                <a:cs typeface="Times New Roman" panose="02020603050405020304" pitchFamily="18" charset="0"/>
              </a:rPr>
              <a:t>Conclusion :</a:t>
            </a:r>
          </a:p>
        </p:txBody>
      </p:sp>
      <p:sp>
        <p:nvSpPr>
          <p:cNvPr id="3" name="Text Placeholder 2">
            <a:extLst>
              <a:ext uri="{FF2B5EF4-FFF2-40B4-BE49-F238E27FC236}">
                <a16:creationId xmlns:a16="http://schemas.microsoft.com/office/drawing/2014/main" id="{27ACD7C2-5B78-678F-4FD6-06B79363B053}"/>
              </a:ext>
            </a:extLst>
          </p:cNvPr>
          <p:cNvSpPr>
            <a:spLocks noGrp="1"/>
          </p:cNvSpPr>
          <p:nvPr>
            <p:ph type="body" idx="1"/>
          </p:nvPr>
        </p:nvSpPr>
        <p:spPr/>
        <p:txBody>
          <a:bodyPr>
            <a:normAutofit/>
          </a:bodyPr>
          <a:lstStyle/>
          <a:p>
            <a:r>
              <a:rPr lang="en-IN" sz="2100" dirty="0"/>
              <a:t>The project successfully analyzed global electronics sales data using Power BI, Power Query, and DAX.</a:t>
            </a:r>
          </a:p>
          <a:p>
            <a:r>
              <a:rPr lang="en-IN" sz="2100" dirty="0"/>
              <a:t>The dashboard helps us understand revenue and order trends across years, countries, and product categories.</a:t>
            </a:r>
          </a:p>
          <a:p>
            <a:r>
              <a:rPr lang="en-IN" sz="2100" dirty="0"/>
              <a:t>The analysis helps identify areas of strong performance and areas that need improvement.</a:t>
            </a:r>
          </a:p>
          <a:p>
            <a:r>
              <a:rPr lang="en-IN" sz="2100" dirty="0"/>
              <a:t>The interactive dashboard allows users to filter and explore the data based on their requirements.</a:t>
            </a:r>
          </a:p>
          <a:p>
            <a:r>
              <a:rPr lang="en-IN" sz="2100" dirty="0"/>
              <a:t>Overall, the project shows how data analysis and visualization can support better business decisions.</a:t>
            </a:r>
          </a:p>
        </p:txBody>
      </p:sp>
    </p:spTree>
    <p:extLst>
      <p:ext uri="{BB962C8B-B14F-4D97-AF65-F5344CB8AC3E}">
        <p14:creationId xmlns:p14="http://schemas.microsoft.com/office/powerpoint/2010/main" val="37918866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2017</TotalTime>
  <Words>845</Words>
  <Application>Microsoft Office PowerPoint</Application>
  <PresentationFormat>Widescreen</PresentationFormat>
  <Paragraphs>106</Paragraphs>
  <Slides>17</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Lato Black</vt:lpstr>
      <vt:lpstr>Libre Baskerville</vt:lpstr>
      <vt:lpstr>Georgia</vt:lpstr>
      <vt:lpstr>Calibri</vt:lpstr>
      <vt:lpstr>Times New Roman</vt:lpstr>
      <vt:lpstr>Office Theme</vt:lpstr>
      <vt:lpstr>PowerPoint Presentation</vt:lpstr>
      <vt:lpstr>About me</vt:lpstr>
      <vt:lpstr>AGENDA :</vt:lpstr>
      <vt:lpstr>Business Problem :</vt:lpstr>
      <vt:lpstr>Business Objective :</vt:lpstr>
      <vt:lpstr>Dataset Overview :</vt:lpstr>
      <vt:lpstr>Data Cleaning &amp; Transformation :</vt:lpstr>
      <vt:lpstr>Data Modeling:</vt:lpstr>
      <vt:lpstr>DAX Measures Created :</vt:lpstr>
      <vt:lpstr>Dashboard Highlights – Overview:</vt:lpstr>
      <vt:lpstr>Dashboard Highlights – Country Performance:</vt:lpstr>
      <vt:lpstr>Dashboard Highlights – Category Performance:</vt:lpstr>
      <vt:lpstr>Dashboard Highlights – 2020 Impact:</vt:lpstr>
      <vt:lpstr>Key Insights :</vt:lpstr>
      <vt:lpstr>Challenges Faced :</vt:lpstr>
      <vt:lpstr>Conclusion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puram teja</cp:lastModifiedBy>
  <cp:revision>39</cp:revision>
  <dcterms:created xsi:type="dcterms:W3CDTF">2021-02-16T05:19:01Z</dcterms:created>
  <dcterms:modified xsi:type="dcterms:W3CDTF">2026-09-18T17:06:20Z</dcterms:modified>
</cp:coreProperties>
</file>